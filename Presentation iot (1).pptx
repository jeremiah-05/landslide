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76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8125" y="238125"/>
            <a:ext cx="11715750" cy="6381750"/>
          </a:xfrm>
          <a:custGeom>
            <a:avLst/>
            <a:gdLst/>
            <a:ahLst/>
            <a:cxnLst/>
            <a:rect l="l" t="t" r="r" b="b"/>
            <a:pathLst>
              <a:path w="11715750" h="6381750">
                <a:moveTo>
                  <a:pt x="11715750" y="0"/>
                </a:moveTo>
                <a:lnTo>
                  <a:pt x="0" y="0"/>
                </a:lnTo>
                <a:lnTo>
                  <a:pt x="0" y="6381750"/>
                </a:lnTo>
                <a:lnTo>
                  <a:pt x="11715750" y="6381750"/>
                </a:lnTo>
                <a:lnTo>
                  <a:pt x="11715750" y="0"/>
                </a:lnTo>
                <a:close/>
              </a:path>
            </a:pathLst>
          </a:custGeom>
          <a:solidFill>
            <a:srgbClr val="BEBEBE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76237" y="376237"/>
            <a:ext cx="11449050" cy="6115050"/>
          </a:xfrm>
          <a:custGeom>
            <a:avLst/>
            <a:gdLst/>
            <a:ahLst/>
            <a:cxnLst/>
            <a:rect l="l" t="t" r="r" b="b"/>
            <a:pathLst>
              <a:path w="11449050" h="6115050">
                <a:moveTo>
                  <a:pt x="0" y="6115050"/>
                </a:moveTo>
                <a:lnTo>
                  <a:pt x="11449050" y="6115050"/>
                </a:lnTo>
                <a:lnTo>
                  <a:pt x="11449050" y="0"/>
                </a:lnTo>
                <a:lnTo>
                  <a:pt x="0" y="0"/>
                </a:lnTo>
                <a:lnTo>
                  <a:pt x="0" y="6115050"/>
                </a:lnTo>
                <a:close/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6195" y="2864802"/>
            <a:ext cx="7039609" cy="849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6967" y="1826831"/>
            <a:ext cx="9918065" cy="405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5705" y="-9315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249" y="1200086"/>
              <a:ext cx="9710801" cy="44339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249" y="1200086"/>
              <a:ext cx="9710801" cy="44339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4924" y="1266825"/>
              <a:ext cx="9582150" cy="4305300"/>
            </a:xfrm>
            <a:custGeom>
              <a:avLst/>
              <a:gdLst/>
              <a:ahLst/>
              <a:cxnLst/>
              <a:rect l="l" t="t" r="r" b="b"/>
              <a:pathLst>
                <a:path w="9582150" h="4305300">
                  <a:moveTo>
                    <a:pt x="9582150" y="0"/>
                  </a:moveTo>
                  <a:lnTo>
                    <a:pt x="0" y="0"/>
                  </a:lnTo>
                  <a:lnTo>
                    <a:pt x="0" y="4305300"/>
                  </a:lnTo>
                  <a:lnTo>
                    <a:pt x="9582150" y="4305300"/>
                  </a:lnTo>
                  <a:lnTo>
                    <a:pt x="958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52625" y="1414525"/>
              <a:ext cx="9296400" cy="4038600"/>
            </a:xfrm>
            <a:custGeom>
              <a:avLst/>
              <a:gdLst/>
              <a:ahLst/>
              <a:cxnLst/>
              <a:rect l="l" t="t" r="r" b="b"/>
              <a:pathLst>
                <a:path w="9296400" h="4038600">
                  <a:moveTo>
                    <a:pt x="0" y="4038600"/>
                  </a:moveTo>
                  <a:lnTo>
                    <a:pt x="9296400" y="4038600"/>
                  </a:lnTo>
                  <a:lnTo>
                    <a:pt x="9296400" y="0"/>
                  </a:lnTo>
                  <a:lnTo>
                    <a:pt x="0" y="0"/>
                  </a:lnTo>
                  <a:lnTo>
                    <a:pt x="0" y="403860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65315" y="2534647"/>
            <a:ext cx="7039609" cy="8496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445" dirty="0"/>
              <a:t>L</a:t>
            </a:r>
            <a:r>
              <a:rPr spc="75" dirty="0"/>
              <a:t>A</a:t>
            </a:r>
            <a:r>
              <a:rPr spc="-755" dirty="0"/>
              <a:t>N</a:t>
            </a:r>
            <a:r>
              <a:rPr spc="-750" dirty="0"/>
              <a:t>D</a:t>
            </a:r>
            <a:r>
              <a:rPr spc="-80" dirty="0"/>
              <a:t>S</a:t>
            </a:r>
            <a:r>
              <a:rPr spc="-445" dirty="0"/>
              <a:t>L</a:t>
            </a:r>
            <a:r>
              <a:rPr spc="-225" dirty="0"/>
              <a:t>I</a:t>
            </a:r>
            <a:r>
              <a:rPr spc="-750" dirty="0"/>
              <a:t>D</a:t>
            </a:r>
            <a:r>
              <a:rPr spc="60" dirty="0"/>
              <a:t>E</a:t>
            </a:r>
            <a:r>
              <a:rPr spc="-229" dirty="0"/>
              <a:t> </a:t>
            </a:r>
            <a:r>
              <a:rPr spc="-750" dirty="0"/>
              <a:t>D</a:t>
            </a:r>
            <a:r>
              <a:rPr dirty="0"/>
              <a:t>E</a:t>
            </a:r>
            <a:r>
              <a:rPr spc="-300" dirty="0"/>
              <a:t>T</a:t>
            </a:r>
            <a:r>
              <a:rPr dirty="0"/>
              <a:t>E</a:t>
            </a:r>
            <a:r>
              <a:rPr spc="-605" dirty="0"/>
              <a:t>C</a:t>
            </a:r>
            <a:r>
              <a:rPr spc="-300" dirty="0"/>
              <a:t>T</a:t>
            </a:r>
            <a:r>
              <a:rPr spc="-229" dirty="0"/>
              <a:t>I</a:t>
            </a:r>
            <a:r>
              <a:rPr spc="-605" dirty="0"/>
              <a:t>O</a:t>
            </a:r>
            <a:r>
              <a:rPr spc="-655" dirty="0"/>
              <a:t>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133975" y="1266825"/>
            <a:ext cx="1924050" cy="733425"/>
            <a:chOff x="5133975" y="1266825"/>
            <a:chExt cx="1924050" cy="733425"/>
          </a:xfrm>
        </p:grpSpPr>
        <p:sp>
          <p:nvSpPr>
            <p:cNvPr id="11" name="object 11"/>
            <p:cNvSpPr/>
            <p:nvPr/>
          </p:nvSpPr>
          <p:spPr>
            <a:xfrm>
              <a:off x="5133975" y="1266825"/>
              <a:ext cx="1924050" cy="733425"/>
            </a:xfrm>
            <a:custGeom>
              <a:avLst/>
              <a:gdLst/>
              <a:ahLst/>
              <a:cxnLst/>
              <a:rect l="l" t="t" r="r" b="b"/>
              <a:pathLst>
                <a:path w="1924050" h="733425">
                  <a:moveTo>
                    <a:pt x="1924050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1924050" y="733425"/>
                  </a:lnTo>
                  <a:lnTo>
                    <a:pt x="1924050" y="0"/>
                  </a:lnTo>
                  <a:close/>
                </a:path>
              </a:pathLst>
            </a:custGeom>
            <a:solidFill>
              <a:srgbClr val="83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53101" y="1271650"/>
              <a:ext cx="1695450" cy="647700"/>
            </a:xfrm>
            <a:custGeom>
              <a:avLst/>
              <a:gdLst/>
              <a:ahLst/>
              <a:cxnLst/>
              <a:rect l="l" t="t" r="r" b="b"/>
              <a:pathLst>
                <a:path w="1695450" h="647700">
                  <a:moveTo>
                    <a:pt x="0" y="0"/>
                  </a:moveTo>
                  <a:lnTo>
                    <a:pt x="0" y="640079"/>
                  </a:lnTo>
                </a:path>
                <a:path w="1695450" h="647700">
                  <a:moveTo>
                    <a:pt x="1695450" y="0"/>
                  </a:moveTo>
                  <a:lnTo>
                    <a:pt x="1695450" y="640079"/>
                  </a:lnTo>
                </a:path>
                <a:path w="1695450" h="647700">
                  <a:moveTo>
                    <a:pt x="0" y="647700"/>
                  </a:moveTo>
                  <a:lnTo>
                    <a:pt x="1691640" y="64770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92014" y="3953573"/>
            <a:ext cx="5142230" cy="1344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D0D0D"/>
                </a:solidFill>
                <a:latin typeface="Times New Roman"/>
                <a:cs typeface="Times New Roman"/>
              </a:rPr>
              <a:t>REVIEW</a:t>
            </a:r>
            <a:r>
              <a:rPr sz="1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180" dirty="0">
                <a:solidFill>
                  <a:srgbClr val="0D0D0D"/>
                </a:solidFill>
                <a:latin typeface="Times New Roman"/>
                <a:cs typeface="Times New Roman"/>
              </a:rPr>
              <a:t>1</a:t>
            </a:r>
            <a:r>
              <a:rPr sz="1800" spc="9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0D0D0D"/>
                </a:solidFill>
                <a:latin typeface="Times New Roman"/>
                <a:cs typeface="Times New Roman"/>
              </a:rPr>
              <a:t>PPT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2621280" marR="346710" indent="-42545">
              <a:lnSpc>
                <a:spcPts val="1650"/>
              </a:lnSpc>
              <a:spcBef>
                <a:spcPts val="5"/>
              </a:spcBef>
            </a:pPr>
            <a:r>
              <a:rPr sz="1400" spc="35" dirty="0">
                <a:latin typeface="Tahoma"/>
                <a:cs typeface="Tahoma"/>
              </a:rPr>
              <a:t>By 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JEREMIAH(URK23CS1218)</a:t>
            </a:r>
            <a:endParaRPr sz="1400" dirty="0">
              <a:latin typeface="Tahoma"/>
              <a:cs typeface="Tahoma"/>
            </a:endParaRPr>
          </a:p>
          <a:p>
            <a:pPr marL="2579370">
              <a:lnSpc>
                <a:spcPct val="100000"/>
              </a:lnSpc>
            </a:pPr>
            <a:r>
              <a:rPr sz="1400" spc="195" dirty="0">
                <a:latin typeface="Tahoma"/>
                <a:cs typeface="Tahoma"/>
              </a:rPr>
              <a:t>M</a:t>
            </a:r>
            <a:r>
              <a:rPr sz="1400" spc="135" dirty="0">
                <a:latin typeface="Tahoma"/>
                <a:cs typeface="Tahoma"/>
              </a:rPr>
              <a:t>A</a:t>
            </a:r>
            <a:r>
              <a:rPr sz="1400" spc="25" dirty="0">
                <a:latin typeface="Tahoma"/>
                <a:cs typeface="Tahoma"/>
              </a:rPr>
              <a:t>H</a:t>
            </a:r>
            <a:r>
              <a:rPr sz="1400" spc="160" dirty="0">
                <a:latin typeface="Tahoma"/>
                <a:cs typeface="Tahoma"/>
              </a:rPr>
              <a:t>A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0" dirty="0">
                <a:latin typeface="Tahoma"/>
                <a:cs typeface="Tahoma"/>
              </a:rPr>
              <a:t>D</a:t>
            </a:r>
            <a:r>
              <a:rPr sz="1400" spc="35" dirty="0">
                <a:latin typeface="Tahoma"/>
                <a:cs typeface="Tahoma"/>
              </a:rPr>
              <a:t>EE</a:t>
            </a:r>
            <a:r>
              <a:rPr sz="1400" spc="-25" dirty="0">
                <a:latin typeface="Tahoma"/>
                <a:cs typeface="Tahoma"/>
              </a:rPr>
              <a:t>P</a:t>
            </a:r>
            <a:r>
              <a:rPr sz="1400" spc="135" dirty="0">
                <a:latin typeface="Tahoma"/>
                <a:cs typeface="Tahoma"/>
              </a:rPr>
              <a:t>A</a:t>
            </a:r>
            <a:r>
              <a:rPr sz="1400" spc="-25" dirty="0">
                <a:latin typeface="Tahoma"/>
                <a:cs typeface="Tahoma"/>
              </a:rPr>
              <a:t>K</a:t>
            </a:r>
            <a:r>
              <a:rPr sz="1400" spc="-65" dirty="0">
                <a:latin typeface="Tahoma"/>
                <a:cs typeface="Tahoma"/>
              </a:rPr>
              <a:t>(</a:t>
            </a:r>
            <a:r>
              <a:rPr sz="1400" spc="130" dirty="0">
                <a:latin typeface="Tahoma"/>
                <a:cs typeface="Tahoma"/>
              </a:rPr>
              <a:t>U</a:t>
            </a:r>
            <a:r>
              <a:rPr sz="1400" spc="-50" dirty="0">
                <a:latin typeface="Tahoma"/>
                <a:cs typeface="Tahoma"/>
              </a:rPr>
              <a:t>R</a:t>
            </a:r>
            <a:r>
              <a:rPr sz="1400" spc="70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2</a:t>
            </a:r>
            <a:r>
              <a:rPr sz="1400" spc="110" dirty="0">
                <a:latin typeface="Tahoma"/>
                <a:cs typeface="Tahoma"/>
              </a:rPr>
              <a:t>3</a:t>
            </a:r>
            <a:r>
              <a:rPr sz="1400" spc="145" dirty="0">
                <a:latin typeface="Tahoma"/>
                <a:cs typeface="Tahoma"/>
              </a:rPr>
              <a:t>C</a:t>
            </a:r>
            <a:r>
              <a:rPr sz="1400" spc="-35" dirty="0">
                <a:latin typeface="Tahoma"/>
                <a:cs typeface="Tahoma"/>
              </a:rPr>
              <a:t>S</a:t>
            </a:r>
            <a:r>
              <a:rPr sz="1400" spc="55" dirty="0">
                <a:latin typeface="Tahoma"/>
                <a:cs typeface="Tahoma"/>
              </a:rPr>
              <a:t>1</a:t>
            </a:r>
            <a:r>
              <a:rPr sz="1400" spc="50" dirty="0">
                <a:latin typeface="Tahoma"/>
                <a:cs typeface="Tahoma"/>
              </a:rPr>
              <a:t>2</a:t>
            </a:r>
            <a:r>
              <a:rPr sz="1400" spc="55" dirty="0">
                <a:latin typeface="Tahoma"/>
                <a:cs typeface="Tahoma"/>
              </a:rPr>
              <a:t>2</a:t>
            </a:r>
            <a:r>
              <a:rPr sz="1400" spc="50" dirty="0">
                <a:latin typeface="Tahoma"/>
                <a:cs typeface="Tahoma"/>
              </a:rPr>
              <a:t>0</a:t>
            </a:r>
            <a:r>
              <a:rPr sz="1400" spc="-110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6492" y="1036955"/>
            <a:ext cx="54978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65" dirty="0">
                <a:latin typeface="Verdana"/>
                <a:cs typeface="Verdana"/>
              </a:rPr>
              <a:t>P</a:t>
            </a:r>
            <a:r>
              <a:rPr sz="3950" spc="-355" dirty="0">
                <a:latin typeface="Verdana"/>
                <a:cs typeface="Verdana"/>
              </a:rPr>
              <a:t>R</a:t>
            </a:r>
            <a:r>
              <a:rPr sz="3950" spc="335" dirty="0">
                <a:latin typeface="Verdana"/>
                <a:cs typeface="Verdana"/>
              </a:rPr>
              <a:t>O</a:t>
            </a:r>
            <a:r>
              <a:rPr sz="3950" spc="-235" dirty="0">
                <a:latin typeface="Verdana"/>
                <a:cs typeface="Verdana"/>
              </a:rPr>
              <a:t>B</a:t>
            </a:r>
            <a:r>
              <a:rPr sz="3950" spc="-160" dirty="0">
                <a:latin typeface="Verdana"/>
                <a:cs typeface="Verdana"/>
              </a:rPr>
              <a:t>L</a:t>
            </a:r>
            <a:r>
              <a:rPr sz="3950" spc="-125" dirty="0">
                <a:latin typeface="Verdana"/>
                <a:cs typeface="Verdana"/>
              </a:rPr>
              <a:t>E</a:t>
            </a:r>
            <a:r>
              <a:rPr sz="3950" spc="220" dirty="0">
                <a:latin typeface="Verdana"/>
                <a:cs typeface="Verdana"/>
              </a:rPr>
              <a:t>M</a:t>
            </a:r>
            <a:r>
              <a:rPr sz="3950" spc="-370" dirty="0">
                <a:latin typeface="Verdana"/>
                <a:cs typeface="Verdana"/>
              </a:rPr>
              <a:t> </a:t>
            </a:r>
            <a:r>
              <a:rPr sz="3950" spc="-530" dirty="0">
                <a:latin typeface="Verdana"/>
                <a:cs typeface="Verdana"/>
              </a:rPr>
              <a:t>S</a:t>
            </a:r>
            <a:r>
              <a:rPr sz="3950" spc="-415" dirty="0">
                <a:latin typeface="Verdana"/>
                <a:cs typeface="Verdana"/>
              </a:rPr>
              <a:t>T</a:t>
            </a:r>
            <a:r>
              <a:rPr sz="3950" spc="-229" dirty="0">
                <a:latin typeface="Verdana"/>
                <a:cs typeface="Verdana"/>
              </a:rPr>
              <a:t>A</a:t>
            </a:r>
            <a:r>
              <a:rPr sz="3950" spc="-190" dirty="0">
                <a:latin typeface="Verdana"/>
                <a:cs typeface="Verdana"/>
              </a:rPr>
              <a:t>T</a:t>
            </a:r>
            <a:r>
              <a:rPr sz="3950" spc="-105" dirty="0">
                <a:latin typeface="Verdana"/>
                <a:cs typeface="Verdana"/>
              </a:rPr>
              <a:t>E</a:t>
            </a:r>
            <a:r>
              <a:rPr sz="3950" spc="195" dirty="0">
                <a:latin typeface="Verdana"/>
                <a:cs typeface="Verdana"/>
              </a:rPr>
              <a:t>M</a:t>
            </a:r>
            <a:r>
              <a:rPr sz="3950" spc="-105" dirty="0">
                <a:latin typeface="Verdana"/>
                <a:cs typeface="Verdana"/>
              </a:rPr>
              <a:t>E</a:t>
            </a:r>
            <a:r>
              <a:rPr sz="3950" spc="114" dirty="0">
                <a:latin typeface="Verdana"/>
                <a:cs typeface="Verdana"/>
              </a:rPr>
              <a:t>N</a:t>
            </a:r>
            <a:r>
              <a:rPr sz="3950" spc="-490" dirty="0">
                <a:latin typeface="Verdana"/>
                <a:cs typeface="Verdana"/>
              </a:rPr>
              <a:t>T</a:t>
            </a:r>
            <a:r>
              <a:rPr sz="3950" spc="-625" dirty="0">
                <a:latin typeface="Verdana"/>
                <a:cs typeface="Verdana"/>
              </a:rPr>
              <a:t>:</a:t>
            </a:r>
            <a:endParaRPr sz="39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6335" y="2630106"/>
            <a:ext cx="9798685" cy="152336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95580" marR="5080" indent="-182880">
              <a:lnSpc>
                <a:spcPct val="109500"/>
              </a:lnSpc>
              <a:spcBef>
                <a:spcPts val="60"/>
              </a:spcBef>
              <a:buClr>
                <a:srgbClr val="252525"/>
              </a:buClr>
              <a:buFont typeface="Microsoft Sans Serif"/>
              <a:buChar char="◦"/>
              <a:tabLst>
                <a:tab pos="195580" algn="l"/>
              </a:tabLst>
            </a:pPr>
            <a:r>
              <a:rPr sz="1800" spc="50" dirty="0">
                <a:latin typeface="Tahoma"/>
                <a:cs typeface="Tahoma"/>
              </a:rPr>
              <a:t>Landslides </a:t>
            </a:r>
            <a:r>
              <a:rPr sz="1800" spc="20" dirty="0">
                <a:latin typeface="Tahoma"/>
                <a:cs typeface="Tahoma"/>
              </a:rPr>
              <a:t>are </a:t>
            </a:r>
            <a:r>
              <a:rPr sz="1800" spc="15" dirty="0">
                <a:latin typeface="Tahoma"/>
                <a:cs typeface="Tahoma"/>
              </a:rPr>
              <a:t>a </a:t>
            </a:r>
            <a:r>
              <a:rPr sz="1800" spc="30" dirty="0">
                <a:latin typeface="Tahoma"/>
                <a:cs typeface="Tahoma"/>
              </a:rPr>
              <a:t>significant </a:t>
            </a:r>
            <a:r>
              <a:rPr sz="1800" spc="5" dirty="0">
                <a:latin typeface="Tahoma"/>
                <a:cs typeface="Tahoma"/>
              </a:rPr>
              <a:t>natural </a:t>
            </a:r>
            <a:r>
              <a:rPr sz="1800" spc="35" dirty="0">
                <a:latin typeface="Tahoma"/>
                <a:cs typeface="Tahoma"/>
              </a:rPr>
              <a:t>hazard </a:t>
            </a:r>
            <a:r>
              <a:rPr sz="1800" spc="-10" dirty="0">
                <a:latin typeface="Tahoma"/>
                <a:cs typeface="Tahoma"/>
              </a:rPr>
              <a:t>that </a:t>
            </a:r>
            <a:r>
              <a:rPr sz="1800" spc="45" dirty="0">
                <a:latin typeface="Tahoma"/>
                <a:cs typeface="Tahoma"/>
              </a:rPr>
              <a:t>can </a:t>
            </a:r>
            <a:r>
              <a:rPr sz="1800" spc="30" dirty="0">
                <a:latin typeface="Tahoma"/>
                <a:cs typeface="Tahoma"/>
              </a:rPr>
              <a:t>cause severe </a:t>
            </a:r>
            <a:r>
              <a:rPr sz="1800" spc="85" dirty="0">
                <a:latin typeface="Tahoma"/>
                <a:cs typeface="Tahoma"/>
              </a:rPr>
              <a:t>damage </a:t>
            </a:r>
            <a:r>
              <a:rPr sz="1800" spc="55" dirty="0">
                <a:latin typeface="Tahoma"/>
                <a:cs typeface="Tahoma"/>
              </a:rPr>
              <a:t>to </a:t>
            </a:r>
            <a:r>
              <a:rPr sz="1800" spc="5" dirty="0">
                <a:latin typeface="Tahoma"/>
                <a:cs typeface="Tahoma"/>
              </a:rPr>
              <a:t>infrastructure, 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disrupt </a:t>
            </a:r>
            <a:r>
              <a:rPr sz="1800" spc="35" dirty="0">
                <a:latin typeface="Tahoma"/>
                <a:cs typeface="Tahoma"/>
              </a:rPr>
              <a:t>communities, </a:t>
            </a:r>
            <a:r>
              <a:rPr sz="1800" spc="70" dirty="0">
                <a:latin typeface="Tahoma"/>
                <a:cs typeface="Tahoma"/>
              </a:rPr>
              <a:t>and </a:t>
            </a:r>
            <a:r>
              <a:rPr sz="1800" spc="20" dirty="0">
                <a:latin typeface="Tahoma"/>
                <a:cs typeface="Tahoma"/>
              </a:rPr>
              <a:t>result </a:t>
            </a:r>
            <a:r>
              <a:rPr sz="1800" spc="40" dirty="0">
                <a:latin typeface="Tahoma"/>
                <a:cs typeface="Tahoma"/>
              </a:rPr>
              <a:t>in </a:t>
            </a:r>
            <a:r>
              <a:rPr sz="1800" spc="50" dirty="0">
                <a:latin typeface="Tahoma"/>
                <a:cs typeface="Tahoma"/>
              </a:rPr>
              <a:t>loss of </a:t>
            </a:r>
            <a:r>
              <a:rPr sz="1800" spc="-10" dirty="0">
                <a:latin typeface="Tahoma"/>
                <a:cs typeface="Tahoma"/>
              </a:rPr>
              <a:t>life. </a:t>
            </a:r>
            <a:r>
              <a:rPr sz="1800" spc="10" dirty="0">
                <a:latin typeface="Tahoma"/>
                <a:cs typeface="Tahoma"/>
              </a:rPr>
              <a:t>They </a:t>
            </a:r>
            <a:r>
              <a:rPr sz="1800" spc="20" dirty="0">
                <a:latin typeface="Tahoma"/>
                <a:cs typeface="Tahoma"/>
              </a:rPr>
              <a:t>are </a:t>
            </a:r>
            <a:r>
              <a:rPr sz="1800" spc="30" dirty="0">
                <a:latin typeface="Tahoma"/>
                <a:cs typeface="Tahoma"/>
              </a:rPr>
              <a:t>often </a:t>
            </a:r>
            <a:r>
              <a:rPr sz="1800" spc="60" dirty="0">
                <a:latin typeface="Tahoma"/>
                <a:cs typeface="Tahoma"/>
              </a:rPr>
              <a:t>triggered </a:t>
            </a:r>
            <a:r>
              <a:rPr sz="1800" spc="55" dirty="0">
                <a:latin typeface="Tahoma"/>
                <a:cs typeface="Tahoma"/>
              </a:rPr>
              <a:t>by </a:t>
            </a:r>
            <a:r>
              <a:rPr sz="1800" spc="15" dirty="0">
                <a:latin typeface="Tahoma"/>
                <a:cs typeface="Tahoma"/>
              </a:rPr>
              <a:t>factors </a:t>
            </a:r>
            <a:r>
              <a:rPr sz="1800" spc="45" dirty="0">
                <a:latin typeface="Tahoma"/>
                <a:cs typeface="Tahoma"/>
              </a:rPr>
              <a:t>such </a:t>
            </a:r>
            <a:r>
              <a:rPr sz="1800" spc="10" dirty="0">
                <a:latin typeface="Tahoma"/>
                <a:cs typeface="Tahoma"/>
              </a:rPr>
              <a:t>as </a:t>
            </a:r>
            <a:r>
              <a:rPr sz="1800" spc="15" dirty="0">
                <a:latin typeface="Tahoma"/>
                <a:cs typeface="Tahoma"/>
              </a:rPr>
              <a:t> heavy </a:t>
            </a:r>
            <a:r>
              <a:rPr sz="1800" spc="5" dirty="0">
                <a:latin typeface="Tahoma"/>
                <a:cs typeface="Tahoma"/>
              </a:rPr>
              <a:t>rainfall, </a:t>
            </a:r>
            <a:r>
              <a:rPr sz="1800" spc="40" dirty="0">
                <a:latin typeface="Tahoma"/>
                <a:cs typeface="Tahoma"/>
              </a:rPr>
              <a:t>seismic </a:t>
            </a:r>
            <a:r>
              <a:rPr sz="1800" spc="-10" dirty="0">
                <a:latin typeface="Tahoma"/>
                <a:cs typeface="Tahoma"/>
              </a:rPr>
              <a:t>activity, </a:t>
            </a:r>
            <a:r>
              <a:rPr sz="1800" spc="70" dirty="0">
                <a:latin typeface="Tahoma"/>
                <a:cs typeface="Tahoma"/>
              </a:rPr>
              <a:t>and </a:t>
            </a:r>
            <a:r>
              <a:rPr sz="1800" spc="45" dirty="0">
                <a:latin typeface="Tahoma"/>
                <a:cs typeface="Tahoma"/>
              </a:rPr>
              <a:t>human </a:t>
            </a:r>
            <a:r>
              <a:rPr sz="1800" spc="5" dirty="0">
                <a:latin typeface="Tahoma"/>
                <a:cs typeface="Tahoma"/>
              </a:rPr>
              <a:t>activities, </a:t>
            </a:r>
            <a:r>
              <a:rPr sz="1800" spc="50" dirty="0">
                <a:latin typeface="Tahoma"/>
                <a:cs typeface="Tahoma"/>
              </a:rPr>
              <a:t>making </a:t>
            </a:r>
            <a:r>
              <a:rPr sz="1800" spc="35" dirty="0">
                <a:latin typeface="Tahoma"/>
                <a:cs typeface="Tahoma"/>
              </a:rPr>
              <a:t>them </a:t>
            </a:r>
            <a:r>
              <a:rPr sz="1800" spc="60" dirty="0">
                <a:latin typeface="Tahoma"/>
                <a:cs typeface="Tahoma"/>
              </a:rPr>
              <a:t>unpredictable </a:t>
            </a:r>
            <a:r>
              <a:rPr sz="1800" spc="70" dirty="0">
                <a:latin typeface="Tahoma"/>
                <a:cs typeface="Tahoma"/>
              </a:rPr>
              <a:t>and 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challenging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to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manage.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20" dirty="0">
                <a:latin typeface="Tahoma"/>
                <a:cs typeface="Tahoma"/>
              </a:rPr>
              <a:t>Early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detection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of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landslides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can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25" dirty="0">
                <a:latin typeface="Tahoma"/>
                <a:cs typeface="Tahoma"/>
              </a:rPr>
              <a:t>significantly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reduce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20" dirty="0">
                <a:latin typeface="Tahoma"/>
                <a:cs typeface="Tahoma"/>
              </a:rPr>
              <a:t>their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impact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by </a:t>
            </a:r>
            <a:r>
              <a:rPr sz="1800" spc="-54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providing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timely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warnings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and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enabling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25" dirty="0">
                <a:latin typeface="Tahoma"/>
                <a:cs typeface="Tahoma"/>
              </a:rPr>
              <a:t>preventative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15" dirty="0">
                <a:latin typeface="Tahoma"/>
                <a:cs typeface="Tahoma"/>
              </a:rPr>
              <a:t>measures.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6492" y="956627"/>
            <a:ext cx="25571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65" dirty="0">
                <a:latin typeface="Verdana"/>
                <a:cs typeface="Verdana"/>
              </a:rPr>
              <a:t>A</a:t>
            </a:r>
            <a:r>
              <a:rPr sz="3950" spc="-235" dirty="0">
                <a:latin typeface="Verdana"/>
                <a:cs typeface="Verdana"/>
              </a:rPr>
              <a:t>B</a:t>
            </a:r>
            <a:r>
              <a:rPr sz="3950" spc="-340" dirty="0">
                <a:latin typeface="Verdana"/>
                <a:cs typeface="Verdana"/>
              </a:rPr>
              <a:t>S</a:t>
            </a:r>
            <a:r>
              <a:rPr sz="3950" spc="-300" dirty="0">
                <a:latin typeface="Verdana"/>
                <a:cs typeface="Verdana"/>
              </a:rPr>
              <a:t>T</a:t>
            </a:r>
            <a:r>
              <a:rPr sz="3950" spc="-350" dirty="0">
                <a:latin typeface="Verdana"/>
                <a:cs typeface="Verdana"/>
              </a:rPr>
              <a:t>R</a:t>
            </a:r>
            <a:r>
              <a:rPr sz="3950" spc="-75" dirty="0">
                <a:latin typeface="Verdana"/>
                <a:cs typeface="Verdana"/>
              </a:rPr>
              <a:t>A</a:t>
            </a:r>
            <a:r>
              <a:rPr sz="3950" spc="160" dirty="0">
                <a:latin typeface="Verdana"/>
                <a:cs typeface="Verdana"/>
              </a:rPr>
              <a:t>C</a:t>
            </a:r>
            <a:r>
              <a:rPr sz="3950" spc="-200" dirty="0">
                <a:latin typeface="Verdana"/>
                <a:cs typeface="Verdana"/>
              </a:rPr>
              <a:t>T</a:t>
            </a:r>
            <a:endParaRPr sz="39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5104" marR="5080" indent="-183515">
              <a:lnSpc>
                <a:spcPct val="113599"/>
              </a:lnSpc>
              <a:spcBef>
                <a:spcPts val="85"/>
              </a:spcBef>
              <a:buClr>
                <a:srgbClr val="252525"/>
              </a:buClr>
              <a:buFont typeface="Microsoft Sans Serif"/>
              <a:buChar char="◦"/>
              <a:tabLst>
                <a:tab pos="205740" algn="l"/>
              </a:tabLst>
            </a:pPr>
            <a:r>
              <a:rPr spc="65" dirty="0"/>
              <a:t>Landslides</a:t>
            </a:r>
            <a:r>
              <a:rPr spc="-55" dirty="0"/>
              <a:t> </a:t>
            </a:r>
            <a:r>
              <a:rPr spc="45" dirty="0"/>
              <a:t>are</a:t>
            </a:r>
            <a:r>
              <a:rPr spc="-100" dirty="0"/>
              <a:t> </a:t>
            </a:r>
            <a:r>
              <a:rPr spc="25" dirty="0"/>
              <a:t>a</a:t>
            </a:r>
            <a:r>
              <a:rPr spc="-50" dirty="0"/>
              <a:t> </a:t>
            </a:r>
            <a:r>
              <a:rPr spc="60" dirty="0"/>
              <a:t>widely</a:t>
            </a:r>
            <a:r>
              <a:rPr spc="-45" dirty="0"/>
              <a:t> </a:t>
            </a:r>
            <a:r>
              <a:rPr spc="80" dirty="0"/>
              <a:t>recognized</a:t>
            </a:r>
            <a:r>
              <a:rPr spc="-55" dirty="0"/>
              <a:t> </a:t>
            </a:r>
            <a:r>
              <a:rPr spc="80" dirty="0"/>
              <a:t>phenomenon,</a:t>
            </a:r>
            <a:r>
              <a:rPr spc="-140" dirty="0"/>
              <a:t> </a:t>
            </a:r>
            <a:r>
              <a:rPr spc="65" dirty="0"/>
              <a:t>causing</a:t>
            </a:r>
            <a:r>
              <a:rPr spc="-45" dirty="0"/>
              <a:t> </a:t>
            </a:r>
            <a:r>
              <a:rPr spc="85" dirty="0"/>
              <a:t>huge</a:t>
            </a:r>
            <a:r>
              <a:rPr spc="-105" dirty="0"/>
              <a:t> </a:t>
            </a:r>
            <a:r>
              <a:rPr spc="95" dirty="0"/>
              <a:t>economic</a:t>
            </a:r>
            <a:r>
              <a:rPr spc="-65" dirty="0"/>
              <a:t> </a:t>
            </a:r>
            <a:r>
              <a:rPr spc="65" dirty="0"/>
              <a:t>and</a:t>
            </a:r>
            <a:r>
              <a:rPr spc="-55" dirty="0"/>
              <a:t> </a:t>
            </a:r>
            <a:r>
              <a:rPr spc="65" dirty="0"/>
              <a:t>human</a:t>
            </a:r>
            <a:r>
              <a:rPr spc="-45" dirty="0"/>
              <a:t> </a:t>
            </a:r>
            <a:r>
              <a:rPr spc="55" dirty="0"/>
              <a:t>losses</a:t>
            </a:r>
            <a:r>
              <a:rPr spc="-125" dirty="0"/>
              <a:t> </a:t>
            </a:r>
            <a:r>
              <a:rPr spc="70" dirty="0"/>
              <a:t>worldwide. </a:t>
            </a:r>
            <a:r>
              <a:rPr spc="-470" dirty="0"/>
              <a:t> </a:t>
            </a:r>
            <a:r>
              <a:rPr spc="40" dirty="0"/>
              <a:t>The </a:t>
            </a:r>
            <a:r>
              <a:rPr spc="65" dirty="0"/>
              <a:t>detection </a:t>
            </a:r>
            <a:r>
              <a:rPr spc="50" dirty="0"/>
              <a:t>of </a:t>
            </a:r>
            <a:r>
              <a:rPr spc="45" dirty="0"/>
              <a:t>spatial </a:t>
            </a:r>
            <a:r>
              <a:rPr spc="65" dirty="0"/>
              <a:t>and temporal landslide </a:t>
            </a:r>
            <a:r>
              <a:rPr spc="55" dirty="0"/>
              <a:t>deformation, </a:t>
            </a:r>
            <a:r>
              <a:rPr spc="65" dirty="0"/>
              <a:t>together </a:t>
            </a:r>
            <a:r>
              <a:rPr spc="45" dirty="0"/>
              <a:t>with </a:t>
            </a:r>
            <a:r>
              <a:rPr spc="65" dirty="0"/>
              <a:t>the </a:t>
            </a:r>
            <a:r>
              <a:rPr spc="55" dirty="0"/>
              <a:t>acquisition </a:t>
            </a:r>
            <a:r>
              <a:rPr spc="50" dirty="0"/>
              <a:t>of </a:t>
            </a:r>
            <a:r>
              <a:rPr spc="60" dirty="0"/>
              <a:t>precursor </a:t>
            </a:r>
            <a:r>
              <a:rPr spc="-470" dirty="0"/>
              <a:t> </a:t>
            </a:r>
            <a:r>
              <a:rPr spc="40" dirty="0"/>
              <a:t>information, </a:t>
            </a:r>
            <a:r>
              <a:rPr spc="45" dirty="0"/>
              <a:t>is </a:t>
            </a:r>
            <a:r>
              <a:rPr spc="50" dirty="0"/>
              <a:t>crucial </a:t>
            </a:r>
            <a:r>
              <a:rPr spc="30" dirty="0"/>
              <a:t>for </a:t>
            </a:r>
            <a:r>
              <a:rPr spc="50" dirty="0"/>
              <a:t>hazard </a:t>
            </a:r>
            <a:r>
              <a:rPr spc="75" dirty="0"/>
              <a:t>prediction </a:t>
            </a:r>
            <a:r>
              <a:rPr spc="85" dirty="0"/>
              <a:t>and </a:t>
            </a:r>
            <a:r>
              <a:rPr spc="70" dirty="0"/>
              <a:t>landslide </a:t>
            </a:r>
            <a:r>
              <a:rPr spc="15" dirty="0"/>
              <a:t>risk </a:t>
            </a:r>
            <a:r>
              <a:rPr spc="65" dirty="0"/>
              <a:t>management. </a:t>
            </a:r>
            <a:r>
              <a:rPr spc="95" dirty="0"/>
              <a:t>Advanced </a:t>
            </a:r>
            <a:r>
              <a:rPr spc="75" dirty="0"/>
              <a:t>landslide </a:t>
            </a:r>
            <a:r>
              <a:rPr spc="80" dirty="0"/>
              <a:t> </a:t>
            </a:r>
            <a:r>
              <a:rPr spc="70" dirty="0"/>
              <a:t>monitoring </a:t>
            </a:r>
            <a:r>
              <a:rPr spc="30" dirty="0"/>
              <a:t>systems </a:t>
            </a:r>
            <a:r>
              <a:rPr spc="80" dirty="0"/>
              <a:t>based </a:t>
            </a:r>
            <a:r>
              <a:rPr spc="90" dirty="0"/>
              <a:t>on </a:t>
            </a:r>
            <a:r>
              <a:rPr spc="65" dirty="0"/>
              <a:t>remote </a:t>
            </a:r>
            <a:r>
              <a:rPr spc="70" dirty="0"/>
              <a:t>sensing </a:t>
            </a:r>
            <a:r>
              <a:rPr spc="65" dirty="0"/>
              <a:t>techniques </a:t>
            </a:r>
            <a:r>
              <a:rPr spc="-55" dirty="0"/>
              <a:t>(RSTs) </a:t>
            </a:r>
            <a:r>
              <a:rPr spc="50" dirty="0"/>
              <a:t>play </a:t>
            </a:r>
            <a:r>
              <a:rPr spc="25" dirty="0"/>
              <a:t>a </a:t>
            </a:r>
            <a:r>
              <a:rPr spc="50" dirty="0"/>
              <a:t>crucial </a:t>
            </a:r>
            <a:r>
              <a:rPr spc="65" dirty="0"/>
              <a:t>role </a:t>
            </a:r>
            <a:r>
              <a:rPr spc="70" dirty="0"/>
              <a:t>in </a:t>
            </a:r>
            <a:r>
              <a:rPr spc="35" dirty="0"/>
              <a:t>risk </a:t>
            </a:r>
            <a:r>
              <a:rPr spc="75" dirty="0"/>
              <a:t>management </a:t>
            </a:r>
            <a:r>
              <a:rPr spc="80" dirty="0"/>
              <a:t> </a:t>
            </a:r>
            <a:r>
              <a:rPr spc="85" dirty="0"/>
              <a:t>and </a:t>
            </a:r>
            <a:r>
              <a:rPr spc="80" dirty="0"/>
              <a:t>provide </a:t>
            </a:r>
            <a:r>
              <a:rPr spc="55" dirty="0"/>
              <a:t>important </a:t>
            </a:r>
            <a:r>
              <a:rPr spc="65" dirty="0"/>
              <a:t>support </a:t>
            </a:r>
            <a:r>
              <a:rPr spc="55" dirty="0"/>
              <a:t>for </a:t>
            </a:r>
            <a:r>
              <a:rPr spc="30" dirty="0"/>
              <a:t>early </a:t>
            </a:r>
            <a:r>
              <a:rPr spc="55" dirty="0"/>
              <a:t>warning </a:t>
            </a:r>
            <a:r>
              <a:rPr spc="30" dirty="0"/>
              <a:t>systems </a:t>
            </a:r>
            <a:r>
              <a:rPr spc="5" dirty="0"/>
              <a:t>(EWSs) </a:t>
            </a:r>
            <a:r>
              <a:rPr spc="30" dirty="0"/>
              <a:t>at </a:t>
            </a:r>
            <a:r>
              <a:rPr spc="60" dirty="0"/>
              <a:t>local </a:t>
            </a:r>
            <a:r>
              <a:rPr spc="65" dirty="0"/>
              <a:t>and </a:t>
            </a:r>
            <a:r>
              <a:rPr spc="70" dirty="0"/>
              <a:t>regional </a:t>
            </a:r>
            <a:r>
              <a:rPr spc="35" dirty="0"/>
              <a:t>scales. </a:t>
            </a:r>
            <a:r>
              <a:rPr spc="65" dirty="0"/>
              <a:t>The </a:t>
            </a:r>
            <a:r>
              <a:rPr spc="70" dirty="0"/>
              <a:t> </a:t>
            </a:r>
            <a:r>
              <a:rPr spc="90" dirty="0"/>
              <a:t>purpose </a:t>
            </a:r>
            <a:r>
              <a:rPr spc="50" dirty="0"/>
              <a:t>of </a:t>
            </a:r>
            <a:r>
              <a:rPr spc="35" dirty="0"/>
              <a:t>this </a:t>
            </a:r>
            <a:r>
              <a:rPr spc="40" dirty="0"/>
              <a:t>article </a:t>
            </a:r>
            <a:r>
              <a:rPr spc="10" dirty="0"/>
              <a:t>is </a:t>
            </a:r>
            <a:r>
              <a:rPr spc="60" dirty="0"/>
              <a:t>to </a:t>
            </a:r>
            <a:r>
              <a:rPr spc="55" dirty="0"/>
              <a:t>present </a:t>
            </a:r>
            <a:r>
              <a:rPr spc="25" dirty="0"/>
              <a:t>a </a:t>
            </a:r>
            <a:r>
              <a:rPr spc="35" dirty="0"/>
              <a:t>review </a:t>
            </a:r>
            <a:r>
              <a:rPr spc="50" dirty="0"/>
              <a:t>of </a:t>
            </a:r>
            <a:r>
              <a:rPr spc="40" dirty="0"/>
              <a:t>the </a:t>
            </a:r>
            <a:r>
              <a:rPr spc="35" dirty="0"/>
              <a:t>current </a:t>
            </a:r>
            <a:r>
              <a:rPr spc="30" dirty="0"/>
              <a:t>state </a:t>
            </a:r>
            <a:r>
              <a:rPr spc="50" dirty="0"/>
              <a:t>of </a:t>
            </a:r>
            <a:r>
              <a:rPr spc="90" dirty="0"/>
              <a:t>knowledge </a:t>
            </a:r>
            <a:r>
              <a:rPr spc="35" dirty="0"/>
              <a:t>in </a:t>
            </a:r>
            <a:r>
              <a:rPr spc="40" dirty="0"/>
              <a:t>the </a:t>
            </a:r>
            <a:r>
              <a:rPr spc="80" dirty="0"/>
              <a:t>development </a:t>
            </a:r>
            <a:r>
              <a:rPr spc="50" dirty="0"/>
              <a:t>of </a:t>
            </a:r>
            <a:r>
              <a:rPr spc="55" dirty="0"/>
              <a:t> </a:t>
            </a:r>
            <a:r>
              <a:rPr spc="-25" dirty="0"/>
              <a:t>RSTs </a:t>
            </a:r>
            <a:r>
              <a:rPr spc="80" dirty="0"/>
              <a:t>used </a:t>
            </a:r>
            <a:r>
              <a:rPr spc="55" dirty="0"/>
              <a:t>for identifying </a:t>
            </a:r>
            <a:r>
              <a:rPr spc="70" dirty="0"/>
              <a:t>landslide </a:t>
            </a:r>
            <a:r>
              <a:rPr spc="45" dirty="0"/>
              <a:t>precursors, </a:t>
            </a:r>
            <a:r>
              <a:rPr spc="10" dirty="0"/>
              <a:t>as </a:t>
            </a:r>
            <a:r>
              <a:rPr spc="65" dirty="0"/>
              <a:t>well </a:t>
            </a:r>
            <a:r>
              <a:rPr spc="45" dirty="0"/>
              <a:t>as </a:t>
            </a:r>
            <a:r>
              <a:rPr spc="55" dirty="0"/>
              <a:t>detecting, </a:t>
            </a:r>
            <a:r>
              <a:rPr spc="60" dirty="0"/>
              <a:t>monitoring, </a:t>
            </a:r>
            <a:r>
              <a:rPr spc="65" dirty="0"/>
              <a:t>and </a:t>
            </a:r>
            <a:r>
              <a:rPr spc="75" dirty="0"/>
              <a:t>predicting </a:t>
            </a:r>
            <a:r>
              <a:rPr spc="80" dirty="0"/>
              <a:t> </a:t>
            </a:r>
            <a:r>
              <a:rPr spc="55" dirty="0"/>
              <a:t>landslides. </a:t>
            </a:r>
            <a:r>
              <a:rPr spc="80" dirty="0"/>
              <a:t>Almost </a:t>
            </a:r>
            <a:r>
              <a:rPr spc="55" dirty="0"/>
              <a:t>200 </a:t>
            </a:r>
            <a:r>
              <a:rPr spc="35" dirty="0"/>
              <a:t>articles </a:t>
            </a:r>
            <a:r>
              <a:rPr spc="50" dirty="0"/>
              <a:t>from </a:t>
            </a:r>
            <a:r>
              <a:rPr spc="75" dirty="0"/>
              <a:t>2010 </a:t>
            </a:r>
            <a:r>
              <a:rPr spc="20" dirty="0"/>
              <a:t>to </a:t>
            </a:r>
            <a:r>
              <a:rPr spc="75" dirty="0"/>
              <a:t>2024 </a:t>
            </a:r>
            <a:r>
              <a:rPr spc="60" dirty="0"/>
              <a:t>were </a:t>
            </a:r>
            <a:r>
              <a:rPr spc="45" dirty="0"/>
              <a:t>analyzed, </a:t>
            </a:r>
            <a:r>
              <a:rPr spc="70" dirty="0"/>
              <a:t>in </a:t>
            </a:r>
            <a:r>
              <a:rPr spc="65" dirty="0"/>
              <a:t>which </a:t>
            </a:r>
            <a:r>
              <a:rPr spc="40" dirty="0"/>
              <a:t>the </a:t>
            </a:r>
            <a:r>
              <a:rPr spc="35" dirty="0"/>
              <a:t>authors </a:t>
            </a:r>
            <a:r>
              <a:rPr spc="55" dirty="0"/>
              <a:t>utilized </a:t>
            </a:r>
            <a:r>
              <a:rPr spc="-25" dirty="0"/>
              <a:t>RSTs </a:t>
            </a:r>
            <a:r>
              <a:rPr spc="60" dirty="0"/>
              <a:t>to </a:t>
            </a:r>
            <a:r>
              <a:rPr spc="65" dirty="0"/>
              <a:t> </a:t>
            </a:r>
            <a:r>
              <a:rPr spc="75" dirty="0"/>
              <a:t>detect</a:t>
            </a:r>
            <a:r>
              <a:rPr spc="-85" dirty="0"/>
              <a:t> </a:t>
            </a:r>
            <a:r>
              <a:rPr spc="55" dirty="0"/>
              <a:t>potential</a:t>
            </a:r>
            <a:r>
              <a:rPr spc="-45" dirty="0"/>
              <a:t> </a:t>
            </a:r>
            <a:r>
              <a:rPr spc="50" dirty="0"/>
              <a:t>precursors</a:t>
            </a:r>
            <a:r>
              <a:rPr spc="-50" dirty="0"/>
              <a:t> </a:t>
            </a:r>
            <a:r>
              <a:rPr spc="55" dirty="0"/>
              <a:t>for</a:t>
            </a:r>
            <a:r>
              <a:rPr spc="-70" dirty="0"/>
              <a:t> </a:t>
            </a:r>
            <a:r>
              <a:rPr spc="30" dirty="0"/>
              <a:t>early</a:t>
            </a:r>
            <a:r>
              <a:rPr spc="-45" dirty="0"/>
              <a:t> </a:t>
            </a:r>
            <a:r>
              <a:rPr spc="55" dirty="0"/>
              <a:t>warning</a:t>
            </a:r>
            <a:r>
              <a:rPr spc="-125" dirty="0"/>
              <a:t> </a:t>
            </a:r>
            <a:r>
              <a:rPr spc="50" dirty="0"/>
              <a:t>of</a:t>
            </a:r>
            <a:r>
              <a:rPr spc="35" dirty="0"/>
              <a:t> </a:t>
            </a:r>
            <a:r>
              <a:rPr spc="30" dirty="0"/>
              <a:t>hazards.</a:t>
            </a:r>
            <a:r>
              <a:rPr spc="-215" dirty="0"/>
              <a:t> </a:t>
            </a:r>
            <a:r>
              <a:rPr spc="65" dirty="0"/>
              <a:t>The</a:t>
            </a:r>
            <a:r>
              <a:rPr spc="-100" dirty="0"/>
              <a:t> </a:t>
            </a:r>
            <a:r>
              <a:rPr spc="55" dirty="0"/>
              <a:t>applications,</a:t>
            </a:r>
            <a:r>
              <a:rPr spc="-135" dirty="0"/>
              <a:t> </a:t>
            </a:r>
            <a:r>
              <a:rPr spc="55" dirty="0"/>
              <a:t>challenges,</a:t>
            </a:r>
            <a:r>
              <a:rPr spc="-140" dirty="0"/>
              <a:t> </a:t>
            </a:r>
            <a:r>
              <a:rPr spc="85" dirty="0"/>
              <a:t>and</a:t>
            </a:r>
            <a:r>
              <a:rPr spc="-50" dirty="0"/>
              <a:t> </a:t>
            </a:r>
            <a:r>
              <a:rPr spc="45" dirty="0"/>
              <a:t>trends</a:t>
            </a:r>
            <a:r>
              <a:rPr spc="-50" dirty="0"/>
              <a:t> </a:t>
            </a:r>
            <a:r>
              <a:rPr spc="50" dirty="0"/>
              <a:t>of</a:t>
            </a:r>
            <a:r>
              <a:rPr spc="-45" dirty="0"/>
              <a:t> </a:t>
            </a:r>
            <a:r>
              <a:rPr spc="-40" dirty="0"/>
              <a:t>RSTs, </a:t>
            </a:r>
            <a:r>
              <a:rPr spc="-470" dirty="0"/>
              <a:t> </a:t>
            </a:r>
            <a:r>
              <a:rPr spc="50" dirty="0"/>
              <a:t>largely</a:t>
            </a:r>
            <a:r>
              <a:rPr spc="-50" dirty="0"/>
              <a:t> </a:t>
            </a:r>
            <a:r>
              <a:rPr spc="95" dirty="0"/>
              <a:t>dependent</a:t>
            </a:r>
            <a:r>
              <a:rPr spc="-80" dirty="0"/>
              <a:t> </a:t>
            </a:r>
            <a:r>
              <a:rPr spc="90" dirty="0"/>
              <a:t>on</a:t>
            </a:r>
            <a:r>
              <a:rPr spc="-120" dirty="0"/>
              <a:t> </a:t>
            </a:r>
            <a:r>
              <a:rPr spc="65" dirty="0"/>
              <a:t>the</a:t>
            </a:r>
            <a:r>
              <a:rPr spc="-105" dirty="0"/>
              <a:t> </a:t>
            </a:r>
            <a:r>
              <a:rPr spc="60" dirty="0"/>
              <a:t>type</a:t>
            </a:r>
            <a:r>
              <a:rPr spc="-100" dirty="0"/>
              <a:t> </a:t>
            </a:r>
            <a:r>
              <a:rPr spc="50" dirty="0"/>
              <a:t>of</a:t>
            </a:r>
            <a:r>
              <a:rPr spc="25" dirty="0"/>
              <a:t> </a:t>
            </a:r>
            <a:r>
              <a:rPr spc="55" dirty="0"/>
              <a:t>landslide,</a:t>
            </a:r>
            <a:r>
              <a:rPr spc="-135" dirty="0"/>
              <a:t> </a:t>
            </a:r>
            <a:r>
              <a:rPr spc="65" dirty="0"/>
              <a:t>deformation</a:t>
            </a:r>
            <a:r>
              <a:rPr spc="-45" dirty="0"/>
              <a:t> </a:t>
            </a:r>
            <a:r>
              <a:rPr spc="25" dirty="0"/>
              <a:t>pattern,</a:t>
            </a:r>
            <a:r>
              <a:rPr spc="-65" dirty="0"/>
              <a:t> </a:t>
            </a:r>
            <a:r>
              <a:rPr spc="40" dirty="0"/>
              <a:t>hazards</a:t>
            </a:r>
            <a:r>
              <a:rPr spc="-55" dirty="0"/>
              <a:t> </a:t>
            </a:r>
            <a:r>
              <a:rPr spc="105" dirty="0"/>
              <a:t>posed</a:t>
            </a:r>
            <a:r>
              <a:rPr spc="-55" dirty="0"/>
              <a:t> </a:t>
            </a:r>
            <a:r>
              <a:rPr spc="95" dirty="0"/>
              <a:t>by</a:t>
            </a:r>
            <a:r>
              <a:rPr spc="-125" dirty="0"/>
              <a:t> </a:t>
            </a:r>
            <a:r>
              <a:rPr spc="65" dirty="0"/>
              <a:t>the</a:t>
            </a:r>
            <a:r>
              <a:rPr spc="-100" dirty="0"/>
              <a:t> </a:t>
            </a:r>
            <a:r>
              <a:rPr spc="65" dirty="0"/>
              <a:t>landslide,</a:t>
            </a:r>
            <a:r>
              <a:rPr spc="-140" dirty="0"/>
              <a:t> </a:t>
            </a:r>
            <a:r>
              <a:rPr spc="85" dirty="0"/>
              <a:t>and</a:t>
            </a:r>
            <a:r>
              <a:rPr spc="-60" dirty="0"/>
              <a:t> </a:t>
            </a:r>
            <a:r>
              <a:rPr spc="40" dirty="0"/>
              <a:t>the </a:t>
            </a:r>
            <a:r>
              <a:rPr spc="-470" dirty="0"/>
              <a:t> </a:t>
            </a:r>
            <a:r>
              <a:rPr spc="35" dirty="0"/>
              <a:t>size </a:t>
            </a:r>
            <a:r>
              <a:rPr spc="50" dirty="0"/>
              <a:t>of </a:t>
            </a:r>
            <a:r>
              <a:rPr spc="40" dirty="0"/>
              <a:t>the area </a:t>
            </a:r>
            <a:r>
              <a:rPr spc="50" dirty="0"/>
              <a:t>of </a:t>
            </a:r>
            <a:r>
              <a:rPr spc="25" dirty="0"/>
              <a:t>interest, </a:t>
            </a:r>
            <a:r>
              <a:rPr spc="45" dirty="0"/>
              <a:t>were </a:t>
            </a:r>
            <a:r>
              <a:rPr spc="50" dirty="0"/>
              <a:t>also </a:t>
            </a:r>
            <a:r>
              <a:rPr spc="65" dirty="0"/>
              <a:t>discussed. </a:t>
            </a:r>
            <a:r>
              <a:rPr spc="80" dirty="0"/>
              <a:t>Although </a:t>
            </a:r>
            <a:r>
              <a:rPr spc="40" dirty="0"/>
              <a:t>the article </a:t>
            </a:r>
            <a:r>
              <a:rPr spc="60" dirty="0"/>
              <a:t>indicates </a:t>
            </a:r>
            <a:r>
              <a:rPr spc="95" dirty="0"/>
              <a:t>some </a:t>
            </a:r>
            <a:r>
              <a:rPr spc="45" dirty="0"/>
              <a:t>limitations </a:t>
            </a:r>
            <a:r>
              <a:rPr spc="50" dirty="0"/>
              <a:t>of </a:t>
            </a:r>
            <a:r>
              <a:rPr spc="40" dirty="0"/>
              <a:t>the </a:t>
            </a:r>
            <a:r>
              <a:rPr spc="45" dirty="0"/>
              <a:t> </a:t>
            </a:r>
            <a:r>
              <a:rPr spc="-25" dirty="0"/>
              <a:t>RSTs</a:t>
            </a:r>
            <a:r>
              <a:rPr spc="-130" dirty="0"/>
              <a:t> </a:t>
            </a:r>
            <a:r>
              <a:rPr spc="80" dirty="0"/>
              <a:t>used</a:t>
            </a:r>
            <a:r>
              <a:rPr spc="-55" dirty="0"/>
              <a:t> </a:t>
            </a:r>
            <a:r>
              <a:rPr spc="90" dirty="0"/>
              <a:t>so</a:t>
            </a:r>
            <a:r>
              <a:rPr spc="-90" dirty="0"/>
              <a:t> </a:t>
            </a:r>
            <a:r>
              <a:rPr spc="-15" dirty="0"/>
              <a:t>far,</a:t>
            </a:r>
            <a:r>
              <a:rPr spc="-140" dirty="0"/>
              <a:t> </a:t>
            </a:r>
            <a:r>
              <a:rPr spc="50" dirty="0"/>
              <a:t>integrating</a:t>
            </a:r>
            <a:r>
              <a:rPr spc="-45" dirty="0"/>
              <a:t> </a:t>
            </a:r>
            <a:r>
              <a:rPr spc="35" dirty="0"/>
              <a:t>different</a:t>
            </a:r>
            <a:r>
              <a:rPr spc="-80" dirty="0"/>
              <a:t> </a:t>
            </a:r>
            <a:r>
              <a:rPr spc="65" dirty="0"/>
              <a:t>techniques</a:t>
            </a:r>
            <a:r>
              <a:rPr spc="-50" dirty="0"/>
              <a:t> </a:t>
            </a:r>
            <a:r>
              <a:rPr spc="85" dirty="0"/>
              <a:t>and</a:t>
            </a:r>
            <a:r>
              <a:rPr spc="-50" dirty="0"/>
              <a:t> </a:t>
            </a:r>
            <a:r>
              <a:rPr spc="70" dirty="0"/>
              <a:t>technological</a:t>
            </a:r>
            <a:r>
              <a:rPr spc="-50" dirty="0"/>
              <a:t> </a:t>
            </a:r>
            <a:r>
              <a:rPr spc="75" dirty="0"/>
              <a:t>developments</a:t>
            </a:r>
            <a:r>
              <a:rPr spc="-50" dirty="0"/>
              <a:t> </a:t>
            </a:r>
            <a:r>
              <a:rPr spc="25" dirty="0"/>
              <a:t>offers</a:t>
            </a:r>
            <a:r>
              <a:rPr spc="-50" dirty="0"/>
              <a:t> </a:t>
            </a:r>
            <a:r>
              <a:rPr spc="40" dirty="0"/>
              <a:t>the</a:t>
            </a:r>
            <a:r>
              <a:rPr spc="-30" dirty="0"/>
              <a:t> </a:t>
            </a:r>
            <a:r>
              <a:rPr spc="60" dirty="0"/>
              <a:t>opportunity </a:t>
            </a:r>
            <a:r>
              <a:rPr spc="-470" dirty="0"/>
              <a:t> </a:t>
            </a:r>
            <a:r>
              <a:rPr spc="60" dirty="0"/>
              <a:t>to</a:t>
            </a:r>
            <a:r>
              <a:rPr spc="-90" dirty="0"/>
              <a:t> </a:t>
            </a:r>
            <a:r>
              <a:rPr spc="40" dirty="0"/>
              <a:t>create</a:t>
            </a:r>
            <a:r>
              <a:rPr spc="-30" dirty="0"/>
              <a:t> </a:t>
            </a:r>
            <a:r>
              <a:rPr spc="55" dirty="0"/>
              <a:t>reliable</a:t>
            </a:r>
            <a:r>
              <a:rPr spc="-25" dirty="0"/>
              <a:t> </a:t>
            </a:r>
            <a:r>
              <a:rPr spc="60" dirty="0"/>
              <a:t>EWSs</a:t>
            </a:r>
            <a:r>
              <a:rPr spc="-55" dirty="0"/>
              <a:t> </a:t>
            </a:r>
            <a:r>
              <a:rPr spc="65" dirty="0"/>
              <a:t>and</a:t>
            </a:r>
            <a:r>
              <a:rPr spc="-55" dirty="0"/>
              <a:t> </a:t>
            </a:r>
            <a:r>
              <a:rPr spc="80" dirty="0"/>
              <a:t>improve</a:t>
            </a:r>
            <a:r>
              <a:rPr spc="-95" dirty="0"/>
              <a:t> </a:t>
            </a:r>
            <a:r>
              <a:rPr spc="50" dirty="0"/>
              <a:t>existing</a:t>
            </a:r>
            <a:r>
              <a:rPr spc="-45" dirty="0"/>
              <a:t> </a:t>
            </a:r>
            <a:r>
              <a:rPr spc="50" dirty="0"/>
              <a:t>ones.</a:t>
            </a:r>
            <a:r>
              <a:rPr spc="-215" dirty="0"/>
              <a:t> </a:t>
            </a:r>
            <a:r>
              <a:rPr spc="65" dirty="0"/>
              <a:t>Through</a:t>
            </a:r>
            <a:r>
              <a:rPr spc="-40" dirty="0"/>
              <a:t> </a:t>
            </a:r>
            <a:r>
              <a:rPr spc="65" dirty="0"/>
              <a:t>comprehensive</a:t>
            </a:r>
            <a:r>
              <a:rPr spc="-30" dirty="0"/>
              <a:t> </a:t>
            </a:r>
            <a:r>
              <a:rPr spc="25" dirty="0"/>
              <a:t>analysis</a:t>
            </a:r>
            <a:r>
              <a:rPr spc="-45" dirty="0"/>
              <a:t> </a:t>
            </a:r>
            <a:r>
              <a:rPr spc="50" dirty="0"/>
              <a:t>of</a:t>
            </a:r>
            <a:r>
              <a:rPr spc="-45" dirty="0"/>
              <a:t> </a:t>
            </a:r>
            <a:r>
              <a:rPr spc="55" dirty="0"/>
              <a:t>multisource</a:t>
            </a:r>
            <a:r>
              <a:rPr spc="-100" dirty="0"/>
              <a:t> </a:t>
            </a:r>
            <a:r>
              <a:rPr spc="30" dirty="0"/>
              <a:t>data, </a:t>
            </a:r>
            <a:r>
              <a:rPr spc="35" dirty="0"/>
              <a:t> </a:t>
            </a:r>
            <a:r>
              <a:rPr dirty="0"/>
              <a:t>it </a:t>
            </a:r>
            <a:r>
              <a:rPr spc="60" dirty="0"/>
              <a:t>enhances </a:t>
            </a:r>
            <a:r>
              <a:rPr spc="65" dirty="0"/>
              <a:t>understanding </a:t>
            </a:r>
            <a:r>
              <a:rPr spc="50" dirty="0"/>
              <a:t>of </a:t>
            </a:r>
            <a:r>
              <a:rPr spc="65" dirty="0"/>
              <a:t>the </a:t>
            </a:r>
            <a:r>
              <a:rPr spc="45" dirty="0"/>
              <a:t>active </a:t>
            </a:r>
            <a:r>
              <a:rPr spc="75" dirty="0"/>
              <a:t>landslide </a:t>
            </a:r>
            <a:r>
              <a:rPr spc="55" dirty="0"/>
              <a:t>process, </a:t>
            </a:r>
            <a:r>
              <a:rPr spc="35" dirty="0"/>
              <a:t>ultimately </a:t>
            </a:r>
            <a:r>
              <a:rPr spc="60" dirty="0"/>
              <a:t>contributing to </a:t>
            </a:r>
            <a:r>
              <a:rPr spc="40" dirty="0"/>
              <a:t>the </a:t>
            </a:r>
            <a:r>
              <a:rPr spc="55" dirty="0"/>
              <a:t>mitigation </a:t>
            </a:r>
            <a:r>
              <a:rPr spc="50" dirty="0"/>
              <a:t>of </a:t>
            </a:r>
            <a:r>
              <a:rPr spc="55" dirty="0"/>
              <a:t> </a:t>
            </a:r>
            <a:r>
              <a:rPr spc="40" dirty="0"/>
              <a:t>casualties</a:t>
            </a:r>
            <a:r>
              <a:rPr spc="-70" dirty="0"/>
              <a:t> </a:t>
            </a:r>
            <a:r>
              <a:rPr spc="65" dirty="0"/>
              <a:t>and</a:t>
            </a:r>
            <a:r>
              <a:rPr spc="-65" dirty="0"/>
              <a:t> </a:t>
            </a:r>
            <a:r>
              <a:rPr spc="65" dirty="0"/>
              <a:t>property</a:t>
            </a:r>
            <a:r>
              <a:rPr spc="-55" dirty="0"/>
              <a:t> </a:t>
            </a:r>
            <a:r>
              <a:rPr spc="75" dirty="0"/>
              <a:t>damage.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8079" y="2159380"/>
            <a:ext cx="5673725" cy="1184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30"/>
              </a:spcBef>
            </a:pPr>
            <a:r>
              <a:rPr sz="3950" spc="-20" dirty="0">
                <a:latin typeface="Verdana"/>
                <a:cs typeface="Verdana"/>
              </a:rPr>
              <a:t>OUTCOME:</a:t>
            </a:r>
            <a:endParaRPr sz="3950">
              <a:latin typeface="Verdana"/>
              <a:cs typeface="Verdana"/>
            </a:endParaRPr>
          </a:p>
          <a:p>
            <a:pPr marL="2808605">
              <a:lnSpc>
                <a:spcPts val="4545"/>
              </a:lnSpc>
            </a:pPr>
            <a:r>
              <a:rPr sz="3950" spc="-45" dirty="0">
                <a:latin typeface="Verdana"/>
                <a:cs typeface="Verdana"/>
              </a:rPr>
              <a:t>H</a:t>
            </a:r>
            <a:r>
              <a:rPr sz="3950" dirty="0">
                <a:latin typeface="Verdana"/>
                <a:cs typeface="Verdana"/>
              </a:rPr>
              <a:t>A</a:t>
            </a:r>
            <a:r>
              <a:rPr sz="3950" spc="-355" dirty="0">
                <a:latin typeface="Verdana"/>
                <a:cs typeface="Verdana"/>
              </a:rPr>
              <a:t>R</a:t>
            </a:r>
            <a:r>
              <a:rPr sz="3950" spc="25" dirty="0">
                <a:latin typeface="Verdana"/>
                <a:cs typeface="Verdana"/>
              </a:rPr>
              <a:t>D</a:t>
            </a:r>
            <a:r>
              <a:rPr sz="3950" spc="-80" dirty="0">
                <a:latin typeface="Verdana"/>
                <a:cs typeface="Verdana"/>
              </a:rPr>
              <a:t>W</a:t>
            </a:r>
            <a:r>
              <a:rPr sz="3950" spc="70" dirty="0">
                <a:latin typeface="Verdana"/>
                <a:cs typeface="Verdana"/>
              </a:rPr>
              <a:t>A</a:t>
            </a:r>
            <a:r>
              <a:rPr sz="3950" spc="-355" dirty="0">
                <a:latin typeface="Verdana"/>
                <a:cs typeface="Verdana"/>
              </a:rPr>
              <a:t>R</a:t>
            </a:r>
            <a:r>
              <a:rPr sz="3950" spc="-150" dirty="0">
                <a:latin typeface="Verdana"/>
                <a:cs typeface="Verdana"/>
              </a:rPr>
              <a:t>E</a:t>
            </a:r>
            <a:endParaRPr sz="39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12684" y="4852987"/>
            <a:ext cx="3993516" cy="8602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9850" marR="452755" indent="-57150">
              <a:lnSpc>
                <a:spcPct val="100800"/>
              </a:lnSpc>
              <a:spcBef>
                <a:spcPts val="85"/>
              </a:spcBef>
            </a:pPr>
            <a:r>
              <a:rPr sz="1800" spc="-75" dirty="0">
                <a:latin typeface="Times New Roman"/>
                <a:cs typeface="Times New Roman"/>
              </a:rPr>
              <a:t>BY </a:t>
            </a:r>
            <a:endParaRPr lang="en-GB" sz="1800" spc="-75" dirty="0">
              <a:latin typeface="Times New Roman"/>
              <a:cs typeface="Times New Roman"/>
            </a:endParaRPr>
          </a:p>
          <a:p>
            <a:pPr marL="69850" marR="452755" indent="-57150">
              <a:lnSpc>
                <a:spcPct val="100800"/>
              </a:lnSpc>
              <a:spcBef>
                <a:spcPts val="85"/>
              </a:spcBef>
            </a:pP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600" spc="195" dirty="0">
                <a:latin typeface="Times New Roman"/>
                <a:cs typeface="Times New Roman"/>
              </a:rPr>
              <a:t>J</a:t>
            </a:r>
            <a:r>
              <a:rPr sz="1600" spc="25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R</a:t>
            </a:r>
            <a:r>
              <a:rPr sz="1600" spc="25" dirty="0">
                <a:latin typeface="Times New Roman"/>
                <a:cs typeface="Times New Roman"/>
              </a:rPr>
              <a:t>E</a:t>
            </a:r>
            <a:r>
              <a:rPr sz="1600" spc="-330" dirty="0">
                <a:latin typeface="Times New Roman"/>
                <a:cs typeface="Times New Roman"/>
              </a:rPr>
              <a:t>M</a:t>
            </a:r>
            <a:r>
              <a:rPr lang="en-GB" sz="1600" spc="20" dirty="0">
                <a:latin typeface="Times New Roman"/>
                <a:cs typeface="Times New Roman"/>
              </a:rPr>
              <a:t>IAH</a:t>
            </a:r>
            <a:r>
              <a:rPr sz="1800" spc="-45" dirty="0">
                <a:latin typeface="Times New Roman"/>
                <a:cs typeface="Times New Roman"/>
              </a:rPr>
              <a:t>(</a:t>
            </a:r>
            <a:r>
              <a:rPr sz="1800" spc="-175" dirty="0">
                <a:latin typeface="Times New Roman"/>
                <a:cs typeface="Times New Roman"/>
              </a:rPr>
              <a:t>U</a:t>
            </a:r>
            <a:r>
              <a:rPr sz="1800" spc="-80" dirty="0">
                <a:latin typeface="Times New Roman"/>
                <a:cs typeface="Times New Roman"/>
              </a:rPr>
              <a:t>R</a:t>
            </a:r>
            <a:r>
              <a:rPr sz="1800" spc="-100" dirty="0">
                <a:latin typeface="Times New Roman"/>
                <a:cs typeface="Times New Roman"/>
              </a:rPr>
              <a:t>K</a:t>
            </a:r>
            <a:r>
              <a:rPr sz="1800" spc="150" dirty="0">
                <a:latin typeface="Times New Roman"/>
                <a:cs typeface="Times New Roman"/>
              </a:rPr>
              <a:t>2</a:t>
            </a:r>
            <a:r>
              <a:rPr sz="1800" spc="220" dirty="0">
                <a:latin typeface="Times New Roman"/>
                <a:cs typeface="Times New Roman"/>
              </a:rPr>
              <a:t>3</a:t>
            </a:r>
            <a:r>
              <a:rPr sz="1800" spc="-90" dirty="0">
                <a:latin typeface="Times New Roman"/>
                <a:cs typeface="Times New Roman"/>
              </a:rPr>
              <a:t>CS</a:t>
            </a:r>
            <a:r>
              <a:rPr sz="1800" spc="150" dirty="0">
                <a:latin typeface="Times New Roman"/>
                <a:cs typeface="Times New Roman"/>
              </a:rPr>
              <a:t>1</a:t>
            </a:r>
            <a:r>
              <a:rPr sz="1800" spc="220" dirty="0">
                <a:latin typeface="Times New Roman"/>
                <a:cs typeface="Times New Roman"/>
              </a:rPr>
              <a:t>2</a:t>
            </a:r>
            <a:r>
              <a:rPr sz="1800" spc="150" dirty="0">
                <a:latin typeface="Times New Roman"/>
                <a:cs typeface="Times New Roman"/>
              </a:rPr>
              <a:t>18</a:t>
            </a:r>
            <a:r>
              <a:rPr sz="1800" spc="20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254" dirty="0">
                <a:latin typeface="Times New Roman"/>
                <a:cs typeface="Times New Roman"/>
              </a:rPr>
              <a:t>M</a:t>
            </a:r>
            <a:r>
              <a:rPr sz="1800" spc="45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HA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4" dirty="0">
                <a:latin typeface="Times New Roman"/>
                <a:cs typeface="Times New Roman"/>
              </a:rPr>
              <a:t>D</a:t>
            </a:r>
            <a:r>
              <a:rPr sz="1800" spc="25" dirty="0">
                <a:latin typeface="Times New Roman"/>
                <a:cs typeface="Times New Roman"/>
              </a:rPr>
              <a:t>EE</a:t>
            </a:r>
            <a:r>
              <a:rPr sz="1800" spc="120" dirty="0">
                <a:latin typeface="Times New Roman"/>
                <a:cs typeface="Times New Roman"/>
              </a:rPr>
              <a:t>P</a:t>
            </a:r>
            <a:r>
              <a:rPr sz="1800" spc="45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K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-250" dirty="0">
                <a:latin typeface="Times New Roman"/>
                <a:cs typeface="Times New Roman"/>
              </a:rPr>
              <a:t>U</a:t>
            </a:r>
            <a:r>
              <a:rPr sz="1800" spc="-80" dirty="0">
                <a:latin typeface="Times New Roman"/>
                <a:cs typeface="Times New Roman"/>
              </a:rPr>
              <a:t>R</a:t>
            </a:r>
            <a:r>
              <a:rPr sz="1800" spc="-100" dirty="0">
                <a:latin typeface="Times New Roman"/>
                <a:cs typeface="Times New Roman"/>
              </a:rPr>
              <a:t>K</a:t>
            </a:r>
            <a:r>
              <a:rPr sz="1800" spc="220" dirty="0">
                <a:latin typeface="Times New Roman"/>
                <a:cs typeface="Times New Roman"/>
              </a:rPr>
              <a:t>2</a:t>
            </a:r>
            <a:r>
              <a:rPr sz="1800" spc="150" dirty="0">
                <a:latin typeface="Times New Roman"/>
                <a:cs typeface="Times New Roman"/>
              </a:rPr>
              <a:t>3</a:t>
            </a:r>
            <a:r>
              <a:rPr sz="1800" spc="-90" dirty="0">
                <a:latin typeface="Times New Roman"/>
                <a:cs typeface="Times New Roman"/>
              </a:rPr>
              <a:t>CS</a:t>
            </a:r>
            <a:r>
              <a:rPr sz="1800" spc="220" dirty="0">
                <a:latin typeface="Times New Roman"/>
                <a:cs typeface="Times New Roman"/>
              </a:rPr>
              <a:t>1</a:t>
            </a:r>
            <a:r>
              <a:rPr sz="1800" spc="150" dirty="0">
                <a:latin typeface="Times New Roman"/>
                <a:cs typeface="Times New Roman"/>
              </a:rPr>
              <a:t>22</a:t>
            </a:r>
            <a:r>
              <a:rPr sz="1800" spc="220" dirty="0">
                <a:latin typeface="Times New Roman"/>
                <a:cs typeface="Times New Roman"/>
              </a:rPr>
              <a:t>0</a:t>
            </a:r>
            <a:r>
              <a:rPr sz="1800" spc="20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2141" y="2215578"/>
            <a:ext cx="6027420" cy="1364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750" b="1" spc="-944" dirty="0">
                <a:latin typeface="Times New Roman"/>
                <a:cs typeface="Times New Roman"/>
              </a:rPr>
              <a:t>T</a:t>
            </a:r>
            <a:r>
              <a:rPr sz="8750" b="1" spc="-1055" dirty="0">
                <a:latin typeface="Times New Roman"/>
                <a:cs typeface="Times New Roman"/>
              </a:rPr>
              <a:t>H</a:t>
            </a:r>
            <a:r>
              <a:rPr sz="8750" b="1" spc="345" dirty="0">
                <a:latin typeface="Times New Roman"/>
                <a:cs typeface="Times New Roman"/>
              </a:rPr>
              <a:t>A</a:t>
            </a:r>
            <a:r>
              <a:rPr sz="8750" b="1" spc="-1070" dirty="0">
                <a:latin typeface="Times New Roman"/>
                <a:cs typeface="Times New Roman"/>
              </a:rPr>
              <a:t>N</a:t>
            </a:r>
            <a:r>
              <a:rPr sz="8750" b="1" spc="-860" dirty="0">
                <a:latin typeface="Times New Roman"/>
                <a:cs typeface="Times New Roman"/>
              </a:rPr>
              <a:t>K</a:t>
            </a:r>
            <a:r>
              <a:rPr sz="8750" b="1" spc="55" dirty="0">
                <a:latin typeface="Times New Roman"/>
                <a:cs typeface="Times New Roman"/>
              </a:rPr>
              <a:t> </a:t>
            </a:r>
            <a:r>
              <a:rPr sz="8750" b="1" spc="-720" dirty="0">
                <a:latin typeface="Times New Roman"/>
                <a:cs typeface="Times New Roman"/>
              </a:rPr>
              <a:t>Y</a:t>
            </a:r>
            <a:r>
              <a:rPr sz="8750" b="1" spc="-1265" dirty="0">
                <a:latin typeface="Times New Roman"/>
                <a:cs typeface="Times New Roman"/>
              </a:rPr>
              <a:t>O</a:t>
            </a:r>
            <a:r>
              <a:rPr sz="8750" b="1" spc="-985" dirty="0">
                <a:latin typeface="Times New Roman"/>
                <a:cs typeface="Times New Roman"/>
              </a:rPr>
              <a:t>U</a:t>
            </a:r>
            <a:endParaRPr sz="8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344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Microsoft Sans Serif</vt:lpstr>
      <vt:lpstr>Tahoma</vt:lpstr>
      <vt:lpstr>Times New Roman</vt:lpstr>
      <vt:lpstr>Verdana</vt:lpstr>
      <vt:lpstr>Office Theme</vt:lpstr>
      <vt:lpstr>LANDSLIDE DETECTION</vt:lpstr>
      <vt:lpstr>PROBLEM STATEMENT:</vt:lpstr>
      <vt:lpstr>ABSTRACT</vt:lpstr>
      <vt:lpstr>OUTCOME: HARDWARE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jerry jerold</cp:lastModifiedBy>
  <cp:revision>1</cp:revision>
  <dcterms:created xsi:type="dcterms:W3CDTF">2024-08-30T15:00:38Z</dcterms:created>
  <dcterms:modified xsi:type="dcterms:W3CDTF">2024-08-30T15:19:38Z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2024-08-30T00:00:00Z</vt:filetime>
  </property>
  <property fmtid="{D5CDD505-2E9C-101B-9397-08002B2CF9AE}" pid="3" name="LastSaved">
    <vt:filetime>2024-08-30T00:00:00Z</vt:filetime>
  </property>
</Properties>
</file>